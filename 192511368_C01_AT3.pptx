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59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9365BA-A998-4571-9815-06557D8B04AC}" v="3" dt="2026-07-21T06:06:51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52" d="100"/>
          <a:sy n="52" d="100"/>
        </p:scale>
        <p:origin x="7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YEDLAPALLI" userId="a490a474928be461" providerId="LiveId" clId="{F0A08B71-07E0-459B-AC13-D7040FC87DF5}"/>
    <pc:docChg chg="undo custSel addSld modSld sldOrd">
      <pc:chgData name="HARSHA YEDLAPALLI" userId="a490a474928be461" providerId="LiveId" clId="{F0A08B71-07E0-459B-AC13-D7040FC87DF5}" dt="2026-07-23T05:32:43.594" v="239"/>
      <pc:docMkLst>
        <pc:docMk/>
      </pc:docMkLst>
      <pc:sldChg chg="addSp modSp mod">
        <pc:chgData name="HARSHA YEDLAPALLI" userId="a490a474928be461" providerId="LiveId" clId="{F0A08B71-07E0-459B-AC13-D7040FC87DF5}" dt="2026-07-21T06:07:34.994" v="235" actId="1038"/>
        <pc:sldMkLst>
          <pc:docMk/>
          <pc:sldMk cId="2772982059" sldId="256"/>
        </pc:sldMkLst>
        <pc:spChg chg="add mod">
          <ac:chgData name="HARSHA YEDLAPALLI" userId="a490a474928be461" providerId="LiveId" clId="{F0A08B71-07E0-459B-AC13-D7040FC87DF5}" dt="2026-07-21T06:07:34.994" v="235" actId="1038"/>
          <ac:spMkLst>
            <pc:docMk/>
            <pc:sldMk cId="2772982059" sldId="256"/>
            <ac:spMk id="2" creationId="{7D260460-D747-16A2-2E8D-FBC532F23B64}"/>
          </ac:spMkLst>
        </pc:spChg>
        <pc:spChg chg="mod">
          <ac:chgData name="HARSHA YEDLAPALLI" userId="a490a474928be461" providerId="LiveId" clId="{F0A08B71-07E0-459B-AC13-D7040FC87DF5}" dt="2026-07-21T06:06:20.540" v="143" actId="1036"/>
          <ac:spMkLst>
            <pc:docMk/>
            <pc:sldMk cId="2772982059" sldId="256"/>
            <ac:spMk id="9" creationId="{3E041F8C-E88D-4FFC-258F-A32CAD916FB9}"/>
          </ac:spMkLst>
        </pc:spChg>
      </pc:sldChg>
      <pc:sldChg chg="modSp mod">
        <pc:chgData name="HARSHA YEDLAPALLI" userId="a490a474928be461" providerId="LiveId" clId="{F0A08B71-07E0-459B-AC13-D7040FC87DF5}" dt="2026-07-21T05:57:17.566" v="71" actId="20577"/>
        <pc:sldMkLst>
          <pc:docMk/>
          <pc:sldMk cId="2706217863" sldId="257"/>
        </pc:sldMkLst>
        <pc:spChg chg="mod">
          <ac:chgData name="HARSHA YEDLAPALLI" userId="a490a474928be461" providerId="LiveId" clId="{F0A08B71-07E0-459B-AC13-D7040FC87DF5}" dt="2026-07-21T05:56:52.801" v="68" actId="12"/>
          <ac:spMkLst>
            <pc:docMk/>
            <pc:sldMk cId="2706217863" sldId="257"/>
            <ac:spMk id="9" creationId="{AD72AC52-92BC-E1C4-91D8-277391B67EEF}"/>
          </ac:spMkLst>
        </pc:spChg>
        <pc:spChg chg="mod">
          <ac:chgData name="HARSHA YEDLAPALLI" userId="a490a474928be461" providerId="LiveId" clId="{F0A08B71-07E0-459B-AC13-D7040FC87DF5}" dt="2026-07-21T05:56:59.993" v="69" actId="12"/>
          <ac:spMkLst>
            <pc:docMk/>
            <pc:sldMk cId="2706217863" sldId="257"/>
            <ac:spMk id="11" creationId="{2B1FB30A-30BB-9EA9-4634-759856B3D3B5}"/>
          </ac:spMkLst>
        </pc:spChg>
        <pc:spChg chg="mod">
          <ac:chgData name="HARSHA YEDLAPALLI" userId="a490a474928be461" providerId="LiveId" clId="{F0A08B71-07E0-459B-AC13-D7040FC87DF5}" dt="2026-07-21T05:57:17.566" v="71" actId="20577"/>
          <ac:spMkLst>
            <pc:docMk/>
            <pc:sldMk cId="2706217863" sldId="257"/>
            <ac:spMk id="12" creationId="{A8CCEBB5-B9B5-61E9-228F-56E2256CA029}"/>
          </ac:spMkLst>
        </pc:spChg>
      </pc:sldChg>
      <pc:sldChg chg="modSp mod">
        <pc:chgData name="HARSHA YEDLAPALLI" userId="a490a474928be461" providerId="LiveId" clId="{F0A08B71-07E0-459B-AC13-D7040FC87DF5}" dt="2026-07-21T05:54:57.489" v="62" actId="114"/>
        <pc:sldMkLst>
          <pc:docMk/>
          <pc:sldMk cId="0" sldId="259"/>
        </pc:sldMkLst>
        <pc:spChg chg="mod">
          <ac:chgData name="HARSHA YEDLAPALLI" userId="a490a474928be461" providerId="LiveId" clId="{F0A08B71-07E0-459B-AC13-D7040FC87DF5}" dt="2026-07-21T05:54:27.711" v="59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48:53.661" v="33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48:42.308" v="32" actId="208"/>
          <ac:spMkLst>
            <pc:docMk/>
            <pc:sldMk cId="0" sldId="259"/>
            <ac:spMk id="7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49:02.411" v="35" actId="20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49:28.408" v="36" actId="20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49:38.120" v="38" actId="20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49:45.720" v="39" actId="20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1:33.500" v="55" actId="11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4:12.167" v="57" actId="20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0:31.807" v="47" actId="20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0:42.178" v="49" actId="208"/>
          <ac:spMkLst>
            <pc:docMk/>
            <pc:sldMk cId="0" sldId="259"/>
            <ac:spMk id="25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1:03.327" v="51" actId="208"/>
          <ac:spMkLst>
            <pc:docMk/>
            <pc:sldMk cId="0" sldId="259"/>
            <ac:spMk id="28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49:55.013" v="41" actId="20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0:07.550" v="43" actId="20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0:13.126" v="44" actId="208"/>
          <ac:spMkLst>
            <pc:docMk/>
            <pc:sldMk cId="0" sldId="259"/>
            <ac:spMk id="34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4:57.489" v="62" actId="114"/>
          <ac:spMkLst>
            <pc:docMk/>
            <pc:sldMk cId="0" sldId="259"/>
            <ac:spMk id="36" creationId="{00000000-0000-0000-0000-000000000000}"/>
          </ac:spMkLst>
        </pc:spChg>
      </pc:sldChg>
      <pc:sldChg chg="modSp mod ord">
        <pc:chgData name="HARSHA YEDLAPALLI" userId="a490a474928be461" providerId="LiveId" clId="{F0A08B71-07E0-459B-AC13-D7040FC87DF5}" dt="2026-07-21T06:01:11.477" v="96"/>
        <pc:sldMkLst>
          <pc:docMk/>
          <pc:sldMk cId="0" sldId="260"/>
        </pc:sldMkLst>
        <pc:graphicFrameChg chg="modGraphic">
          <ac:chgData name="HARSHA YEDLAPALLI" userId="a490a474928be461" providerId="LiveId" clId="{F0A08B71-07E0-459B-AC13-D7040FC87DF5}" dt="2026-07-21T05:58:29.470" v="78" actId="207"/>
          <ac:graphicFrameMkLst>
            <pc:docMk/>
            <pc:sldMk cId="0" sldId="260"/>
            <ac:graphicFrameMk id="5" creationId="{F382FE8D-9EF0-D078-F4C9-3AF4457D11DF}"/>
          </ac:graphicFrameMkLst>
        </pc:graphicFrameChg>
      </pc:sldChg>
      <pc:sldChg chg="modSp mod">
        <pc:chgData name="HARSHA YEDLAPALLI" userId="a490a474928be461" providerId="LiveId" clId="{F0A08B71-07E0-459B-AC13-D7040FC87DF5}" dt="2026-07-21T05:59:16.742" v="84" actId="12"/>
        <pc:sldMkLst>
          <pc:docMk/>
          <pc:sldMk cId="0" sldId="261"/>
        </pc:sldMkLst>
        <pc:spChg chg="mod">
          <ac:chgData name="HARSHA YEDLAPALLI" userId="a490a474928be461" providerId="LiveId" clId="{F0A08B71-07E0-459B-AC13-D7040FC87DF5}" dt="2026-07-21T05:26:49.421" v="13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27:04.795" v="14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26:17.450" v="9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25:52.318" v="7" actId="12"/>
          <ac:spMkLst>
            <pc:docMk/>
            <pc:sldMk cId="0" sldId="261"/>
            <ac:spMk id="6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9:08.677" v="83" actId="12"/>
          <ac:spMkLst>
            <pc:docMk/>
            <pc:sldMk cId="0" sldId="261"/>
            <ac:spMk id="7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8:52.809" v="79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25:13.516" v="5" actId="207"/>
          <ac:spMkLst>
            <pc:docMk/>
            <pc:sldMk cId="0" sldId="261"/>
            <ac:spMk id="9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9:16.742" v="84" actId="12"/>
          <ac:spMkLst>
            <pc:docMk/>
            <pc:sldMk cId="0" sldId="261"/>
            <ac:spMk id="10" creationId="{00000000-0000-0000-0000-000000000000}"/>
          </ac:spMkLst>
        </pc:spChg>
      </pc:sldChg>
      <pc:sldChg chg="modSp mod ord">
        <pc:chgData name="HARSHA YEDLAPALLI" userId="a490a474928be461" providerId="LiveId" clId="{F0A08B71-07E0-459B-AC13-D7040FC87DF5}" dt="2026-07-23T05:32:43.594" v="239"/>
        <pc:sldMkLst>
          <pc:docMk/>
          <pc:sldMk cId="0" sldId="263"/>
        </pc:sldMkLst>
        <pc:spChg chg="mod">
          <ac:chgData name="HARSHA YEDLAPALLI" userId="a490a474928be461" providerId="LiveId" clId="{F0A08B71-07E0-459B-AC13-D7040FC87DF5}" dt="2026-07-21T05:59:27.550" v="85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9:43.664" v="86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9:48.597" v="87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5:59:56.246" v="88" actId="20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6:00:00.278" v="89" actId="20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HARSHA YEDLAPALLI" userId="a490a474928be461" providerId="LiveId" clId="{F0A08B71-07E0-459B-AC13-D7040FC87DF5}" dt="2026-07-21T06:00:21.916" v="92" actId="207"/>
          <ac:spMkLst>
            <pc:docMk/>
            <pc:sldMk cId="0" sldId="263"/>
            <ac:spMk id="29" creationId="{00000000-0000-0000-0000-000000000000}"/>
          </ac:spMkLst>
        </pc:spChg>
      </pc:sldChg>
      <pc:sldChg chg="delSp modSp add mod setBg">
        <pc:chgData name="HARSHA YEDLAPALLI" userId="a490a474928be461" providerId="LiveId" clId="{F0A08B71-07E0-459B-AC13-D7040FC87DF5}" dt="2026-07-21T06:04:04.171" v="129" actId="14100"/>
        <pc:sldMkLst>
          <pc:docMk/>
          <pc:sldMk cId="0" sldId="266"/>
        </pc:sldMkLst>
        <pc:spChg chg="mod">
          <ac:chgData name="HARSHA YEDLAPALLI" userId="a490a474928be461" providerId="LiveId" clId="{F0A08B71-07E0-459B-AC13-D7040FC87DF5}" dt="2026-07-21T06:04:04.171" v="129" actId="14100"/>
          <ac:spMkLst>
            <pc:docMk/>
            <pc:sldMk cId="0" sldId="26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0CCD8-053C-4DB1-A8C2-CFB4743D6A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325A0-A045-47E2-8671-95DF49AE5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42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FC7C-7B2B-1997-4A0C-FC9476CE8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FEDF9-2E6F-4C14-724C-158553233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A7C0F-5468-2A6D-5447-C06F2FC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DC702-7B85-3579-F937-80F2E07F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378F9-2838-180C-D023-7F742478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165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F37B-AF39-8FF2-CE9E-90439B5E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9E2A3-64B7-416D-33AD-64FA1FD47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AE0D7-CEA1-2CD2-224B-3F795B54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74B6E-F9DE-F848-7069-6F980CAD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452ED-A2C5-D6AE-7131-074E60D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41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284D-9E93-BF09-9542-76CE4961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B8A6B-7842-DC26-5C62-0647E912A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EF246-0600-06CA-1061-05FEACEC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2CA2B-880C-2607-753E-AA3D507F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E4895-510B-CF13-5269-34432AB1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25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200B-0CB6-6F8E-63CB-E996635D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3240-7D0C-E1FC-663C-3775C0A59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61509-91DE-F947-0562-021BDDF26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7475D-B549-244B-1FC2-77CD1085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28C58-E0D0-5DCB-B4CB-6A692EFE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CE09D-DE56-1FAF-7EEF-C809328B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69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1235-F7E2-7F8D-C0CD-F7F25D02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3287D-81C6-D68C-E2B7-9143C6806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F50C7-80C8-0098-5D60-6FE6F68FB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60382-8721-99EB-5BA8-44B0C6428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F66D3-72D3-5267-4984-8D8A73359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0A2F8-80BC-CD86-A029-5E59F6DC7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03960E-F66C-B054-048A-DA3B83EF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EA2977-5BD0-FAB4-BF48-A8126F54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38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972C-3006-7EFB-AF2B-EC58632D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E80344-0146-1904-9182-442A3D69C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A520D-08D7-2197-7CA9-0E85BCE6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6883F-2430-6D66-B5F8-EBD7C6E3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42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3724D-F1D9-357D-2B34-101D292B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7C9895-C1A1-C538-E6BF-BA93A063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730C6-7459-A682-ED91-C3E920E1D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27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010E-BEAA-3254-FD21-96998E58F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8F3B5-F7F4-EC41-4B87-5AF5349A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7DC7E-D802-F0B0-58CE-7CD0B933B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9C214-4350-EBC9-36E7-FC2A4AB0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7F8D8-390E-07FA-CAF3-B42D3B67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3AA0E-5ED3-73B2-9E03-67FA112C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35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B3F7-84DC-6E24-B9C6-19820F423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14823-7428-A3CF-3504-541F5065B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EE2D3-C6E6-625D-173D-9EBFDED46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799E8-53AE-FB08-F3D0-E1543A38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6175B-02EF-4DE9-DEF4-EB744CCE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0244A-F37F-15A1-065D-08387B95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612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D6D3-B8F4-FBA3-E083-D060CA55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D4271-E5D4-0338-7515-E1845757C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BF719-693F-AD8E-0320-68F7E6DF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882B-C248-8F49-1144-F8FA1271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1D86C-7A48-4CFD-F1E9-3EB5EB31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05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11CF6-C530-D774-69E7-805222D6B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1757E-A459-D27F-CE51-BC417F071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88A06-4F77-0DDC-15B0-8E9E7FB4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A11C7-7CB8-9E28-B6DB-0B83CDF6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5770-05BE-8C20-224E-EA395FE0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63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06D3F7-FBF2-07E5-2B10-73064D38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3A95B-E8F8-C016-0169-E708FE6B1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BBA0F-CE91-A0EE-D05E-572BB4A2D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DAF7E-BFD5-41B5-B1C5-A695DC4A45D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86C71-A6E7-06D0-15E8-CBAC19AE1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3D554-AD58-D808-30B9-D9A4BFC87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74B80-D9E0-46F8-83C9-45789DC50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75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16AFEC-D9AA-7A34-1A65-B6EB2E32B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59"/>
            <a:ext cx="12192000" cy="1419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0E38E4-0BE2-C7F3-0B0C-FAB9DCDDECAC}"/>
              </a:ext>
            </a:extLst>
          </p:cNvPr>
          <p:cNvSpPr txBox="1"/>
          <p:nvPr/>
        </p:nvSpPr>
        <p:spPr>
          <a:xfrm>
            <a:off x="1591733" y="1930400"/>
            <a:ext cx="926532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DATA-BASE MANAGEMENT SYSTEM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(CSA0506)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File-Based System vs. DBMS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41F8C-E88D-4FFC-258F-A32CAD916FB9}"/>
              </a:ext>
            </a:extLst>
          </p:cNvPr>
          <p:cNvSpPr txBox="1"/>
          <p:nvPr/>
        </p:nvSpPr>
        <p:spPr>
          <a:xfrm>
            <a:off x="548423" y="4616244"/>
            <a:ext cx="2887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Presented by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Y.Harsha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(192511368)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260460-D747-16A2-2E8D-FBC532F23B64}"/>
              </a:ext>
            </a:extLst>
          </p:cNvPr>
          <p:cNvSpPr txBox="1"/>
          <p:nvPr/>
        </p:nvSpPr>
        <p:spPr>
          <a:xfrm>
            <a:off x="7787140" y="4645740"/>
            <a:ext cx="392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</a:p>
        </p:txBody>
      </p:sp>
    </p:spTree>
    <p:extLst>
      <p:ext uri="{BB962C8B-B14F-4D97-AF65-F5344CB8AC3E}">
        <p14:creationId xmlns:p14="http://schemas.microsoft.com/office/powerpoint/2010/main" val="2772982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693C7E6F-96E7-70CC-3BF9-05FEF06F1BED}"/>
              </a:ext>
            </a:extLst>
          </p:cNvPr>
          <p:cNvSpPr/>
          <p:nvPr/>
        </p:nvSpPr>
        <p:spPr>
          <a:xfrm>
            <a:off x="457200" y="12344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E7E6"/>
            </a:solidFill>
            <a:prstDash val="solid"/>
          </a:ln>
          <a:effectLst>
            <a:outerShdw blurRad="76200" dist="38100" dir="5400000" algn="bl" rotWithShape="0">
              <a:srgbClr val="666666">
                <a:alpha val="25000"/>
              </a:srgbClr>
            </a:outerShdw>
          </a:effectLst>
        </p:spPr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9D99C14-1A07-68D1-729F-7ADCCD079AD5}"/>
              </a:ext>
            </a:extLst>
          </p:cNvPr>
          <p:cNvSpPr/>
          <p:nvPr/>
        </p:nvSpPr>
        <p:spPr>
          <a:xfrm>
            <a:off x="6524266" y="1236367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E7E6"/>
            </a:solidFill>
            <a:prstDash val="solid"/>
          </a:ln>
          <a:effectLst>
            <a:outerShdw blurRad="76200" dist="38100" dir="5400000" algn="bl" rotWithShape="0">
              <a:srgbClr val="666666">
                <a:alpha val="25000"/>
              </a:srgbClr>
            </a:outerShdw>
          </a:effectLst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BAE4A-192C-C409-8B58-093BB3684F7E}"/>
              </a:ext>
            </a:extLst>
          </p:cNvPr>
          <p:cNvSpPr txBox="1"/>
          <p:nvPr/>
        </p:nvSpPr>
        <p:spPr>
          <a:xfrm>
            <a:off x="2088652" y="1595378"/>
            <a:ext cx="243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B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Systems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2AC52-92BC-E1C4-91D8-277391B67EEF}"/>
              </a:ext>
            </a:extLst>
          </p:cNvPr>
          <p:cNvSpPr txBox="1"/>
          <p:nvPr/>
        </p:nvSpPr>
        <p:spPr>
          <a:xfrm>
            <a:off x="640080" y="2514600"/>
            <a:ext cx="5027655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stored in separate flat files  managed directly by application programs.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department/application maintains its own files.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centralized control; minimal built-in security.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Common in legacy systems from the 1970s–1990s.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EA3503-40C7-49B4-8C8C-D73E661E705A}"/>
              </a:ext>
            </a:extLst>
          </p:cNvPr>
          <p:cNvSpPr txBox="1"/>
          <p:nvPr/>
        </p:nvSpPr>
        <p:spPr>
          <a:xfrm>
            <a:off x="6964680" y="1813561"/>
            <a:ext cx="4221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B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 System (DBMS)</a:t>
            </a:r>
            <a:endParaRPr lang="en-US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FB30A-30BB-9EA9-4634-759856B3D3B5}"/>
              </a:ext>
            </a:extLst>
          </p:cNvPr>
          <p:cNvSpPr txBox="1"/>
          <p:nvPr/>
        </p:nvSpPr>
        <p:spPr>
          <a:xfrm>
            <a:off x="6766560" y="2514600"/>
            <a:ext cx="501396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software that stores, retrieves, and manages structured data.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unified interface (SQL) across all applications.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security, integrity constraints, and concurrency control.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Oracle, MySQL, PostgreSQL, SQL Server.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CEBB5-B9B5-61E9-228F-56E2256CA029}"/>
              </a:ext>
            </a:extLst>
          </p:cNvPr>
          <p:cNvSpPr txBox="1"/>
          <p:nvPr/>
        </p:nvSpPr>
        <p:spPr>
          <a:xfrm>
            <a:off x="457200" y="533400"/>
            <a:ext cx="477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 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1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Feature-by-Feature Comparison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F382FE8D-9EF0-D078-F4C9-3AF4457D1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431860"/>
              </p:ext>
            </p:extLst>
          </p:nvPr>
        </p:nvGraphicFramePr>
        <p:xfrm>
          <a:off x="457200" y="1234440"/>
          <a:ext cx="11475720" cy="5303520"/>
        </p:xfrm>
        <a:graphic>
          <a:graphicData uri="http://schemas.openxmlformats.org/drawingml/2006/table">
            <a:tbl>
              <a:tblPr/>
              <a:tblGrid>
                <a:gridCol w="1924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5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5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itchFamily="34" charset="-122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itchFamily="34" charset="-122"/>
                          <a:cs typeface="Times New Roman" panose="02020603050405020304" pitchFamily="18" charset="0"/>
                        </a:rPr>
                        <a:t>File-Based System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itchFamily="34" charset="-122"/>
                          <a:cs typeface="Times New Roman" panose="02020603050405020304" pitchFamily="18" charset="0"/>
                        </a:rPr>
                        <a:t>DBMS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1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 Redundancy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High — duplicated across files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Minimal — normalized storage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1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 Integrity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Weak — no enforced rules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Strong — constraints &amp; keys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1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Query Capability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Manual coding required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Declarative SQL queries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1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Backup &amp; Recovery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Manual, error-prone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Automated, transaction-based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1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Security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Basic OS-level permissions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Granular, role-based access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1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Scalability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Poor for large, growing data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Designed for scale &amp; growth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1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Cost of Maintenance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Rises sharply as data grows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Predictable, centralized admin</a:t>
                      </a:r>
                      <a:endParaRPr 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Case Study: Banking Sector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Legacy Bank Branch Ledger System → Core Banking DBMS Migration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40680" cy="4069080"/>
          </a:xfrm>
          <a:prstGeom prst="roundRect">
            <a:avLst>
              <a:gd name="adj" fmla="val 2247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Before: File-Based Branch Records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branch stored customer account files locally; head office had no real-time view.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Inter-branch transfers required manual reconciliation of paper/file records.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Duplicate customer records caused mismatched balances.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misplaced file could delay transactions by days</a:t>
            </a:r>
            <a:r>
              <a:rPr lang="en-US" sz="13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440680" cy="4069080"/>
          </a:xfrm>
          <a:prstGeom prst="roundRect">
            <a:avLst>
              <a:gd name="adj" fmla="val 2247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4160" y="2453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After: Centralized Core Banking DBMS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branches connect to one central database in real time.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Transactions use ACID properties — a transfer either fully completes or fully rolls back.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 customer ID eliminates duplicate/mismatched records.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B1F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Enables ATMs, mobile banking, and fraud detection in real time.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Architecture Comparison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File-Based System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5448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25880" y="2423160"/>
            <a:ext cx="0" cy="411480"/>
          </a:xfrm>
          <a:prstGeom prst="line">
            <a:avLst/>
          </a:prstGeom>
          <a:noFill/>
          <a:ln w="1905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8803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E4E0"/>
          </a:solidFill>
          <a:ln w="12700">
            <a:solidFill>
              <a:srgbClr val="E85D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828800"/>
            <a:ext cx="1554480" cy="5943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0" cy="411480"/>
          </a:xfrm>
          <a:prstGeom prst="line">
            <a:avLst/>
          </a:prstGeom>
          <a:noFill/>
          <a:ln w="1905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28803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8803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828800"/>
            <a:ext cx="155448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2423160"/>
            <a:ext cx="0" cy="411480"/>
          </a:xfrm>
          <a:prstGeom prst="line">
            <a:avLst/>
          </a:prstGeom>
          <a:noFill/>
          <a:ln w="1905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28803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8803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application owns its own isolated file → duplication &amp; inconsistency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09360" y="1280160"/>
            <a:ext cx="0" cy="2743200"/>
          </a:xfrm>
          <a:prstGeom prst="line">
            <a:avLst/>
          </a:prstGeom>
          <a:noFill/>
          <a:ln w="12700">
            <a:solidFill>
              <a:srgbClr val="CBD8D7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58368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DBMS Architecture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5120" y="182880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828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60920" y="2331720"/>
            <a:ext cx="0" cy="320040"/>
          </a:xfrm>
          <a:prstGeom prst="line">
            <a:avLst/>
          </a:prstGeom>
          <a:noFill/>
          <a:ln w="1905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182880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828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69680" y="2331720"/>
            <a:ext cx="0" cy="320040"/>
          </a:xfrm>
          <a:prstGeom prst="line">
            <a:avLst/>
          </a:prstGeom>
          <a:noFill/>
          <a:ln w="1905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92640" y="182880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1828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378440" y="2331720"/>
            <a:ext cx="0" cy="320040"/>
          </a:xfrm>
          <a:prstGeom prst="line">
            <a:avLst/>
          </a:prstGeom>
          <a:noFill/>
          <a:ln w="1905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49440" y="278892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</p:sp>
      <p:sp>
        <p:nvSpPr>
          <p:cNvPr id="32" name="Text 30"/>
          <p:cNvSpPr/>
          <p:nvPr/>
        </p:nvSpPr>
        <p:spPr>
          <a:xfrm>
            <a:off x="6949440" y="27889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Centralized DBMS  (SQL Engine)</a:t>
            </a:r>
            <a:endParaRPr lang="en-US" sz="13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961120" y="3474720"/>
            <a:ext cx="0" cy="320040"/>
          </a:xfrm>
          <a:prstGeom prst="line">
            <a:avLst/>
          </a:prstGeom>
          <a:noFill/>
          <a:ln w="1905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818120" y="38404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Database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7512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applications share one consistent source of truth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Benefits of Adopting a DBMS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7E6"/>
            </a:solidFill>
            <a:prstDash val="solid"/>
          </a:ln>
          <a:effectLst>
            <a:outerShdw blurRad="63500" dist="25400" dir="5400000" algn="bl" rotWithShape="0">
              <a:srgbClr val="666666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325880" y="1463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Consistency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 source of truth eliminates conflicting records across departments.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7E6"/>
            </a:solidFill>
            <a:prstDash val="solid"/>
          </a:ln>
          <a:effectLst>
            <a:outerShdw blurRad="63500" dist="25400" dir="5400000" algn="bl" rotWithShape="0">
              <a:srgbClr val="66666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120640" y="1463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Faster Transactions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80560" y="21945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Indexed queries replace slow manual file searches, cutting response time.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7E6"/>
            </a:solidFill>
            <a:prstDash val="solid"/>
          </a:ln>
          <a:effectLst>
            <a:outerShdw blurRad="63500" dist="25400" dir="5400000" algn="bl" rotWithShape="0">
              <a:srgbClr val="666666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5087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915400" y="1463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Stronger Security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75320" y="21945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access and encryption protect sensitive financial and medical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7E6"/>
            </a:solidFill>
            <a:prstDash val="solid"/>
          </a:ln>
          <a:effectLst>
            <a:outerShdw blurRad="63500" dist="25400" dir="5400000" algn="bl" rotWithShape="0">
              <a:srgbClr val="666666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32588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Reliable Recovery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" y="452628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backups and transaction logs prevent permanent data loss.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51960" y="361188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7E6"/>
            </a:solidFill>
            <a:prstDash val="solid"/>
          </a:ln>
          <a:effectLst>
            <a:outerShdw blurRad="63500" dist="25400" dir="5400000" algn="bl" rotWithShape="0">
              <a:srgbClr val="666666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8404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12064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Regulatory Compliance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80560" y="452628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Audit trails support standards like RBI guidelines and HIPAA.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46720" y="361188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7E6"/>
            </a:solidFill>
            <a:prstDash val="solid"/>
          </a:ln>
          <a:effectLst>
            <a:outerShdw blurRad="63500" dist="25400" dir="5400000" algn="bl" rotWithShape="0">
              <a:srgbClr val="666666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3840480"/>
            <a:ext cx="502920" cy="50292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</p:sp>
      <p:sp>
        <p:nvSpPr>
          <p:cNvPr id="30" name="Text 28"/>
          <p:cNvSpPr/>
          <p:nvPr/>
        </p:nvSpPr>
        <p:spPr>
          <a:xfrm>
            <a:off x="82753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91540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Scalable Growth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75320" y="452628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Handles millions of accounts or patient records without redesign.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16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 &amp; Key Takeaways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3D4109-E8DB-AF6E-ECAD-891A5681D4BA}"/>
              </a:ext>
            </a:extLst>
          </p:cNvPr>
          <p:cNvSpPr txBox="1"/>
          <p:nvPr/>
        </p:nvSpPr>
        <p:spPr>
          <a:xfrm>
            <a:off x="457200" y="2011680"/>
            <a:ext cx="114757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DBMS centralizes data, enforcing consistency, security, and transaction safety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File-based systems suffer from redundancy, weak integrity, and poor scalability.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Banking case study: branch files → real-time core banking DBMS with ACID transactions.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Healthcare case study: paper/file records → unified EHR improving patient safety.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Adopting DBMS directly improves compliance, speed, and decision-making in both sectors.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39213" y="2212258"/>
            <a:ext cx="11135032" cy="1681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540</Words>
  <Application>Microsoft Office PowerPoint</Application>
  <PresentationFormat>Widescreen</PresentationFormat>
  <Paragraphs>111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YEDLAPALLI</dc:creator>
  <cp:lastModifiedBy>HARSHA YEDLAPALLI</cp:lastModifiedBy>
  <cp:revision>1</cp:revision>
  <dcterms:created xsi:type="dcterms:W3CDTF">2026-07-21T03:58:39Z</dcterms:created>
  <dcterms:modified xsi:type="dcterms:W3CDTF">2026-07-23T05:32:49Z</dcterms:modified>
</cp:coreProperties>
</file>